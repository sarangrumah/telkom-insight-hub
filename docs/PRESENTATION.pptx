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Segoe UI Light"/>
              </a:defRPr>
            </a:pPr>
            <a:r>
              <a:t>KEMENTERIAN KOMUNIKASI DAN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Telkom Insight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D700"/>
                </a:solidFill>
                <a:latin typeface="Segoe UI Light"/>
              </a:defRPr>
            </a:pPr>
            <a:r>
              <a:t>Panel Manajemen Data Telekomunikasi &amp; Analitik Strategis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657600"/>
            <a:ext cx="36576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Segoe UI"/>
              </a:defRPr>
            </a:pPr>
            <a:r>
              <a:t>Direktorat Jenderal Penyelenggaraan Pos dan Informatika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Segoe UI"/>
              </a:defRPr>
            </a:pPr>
            <a:r>
              <a:t>Presentasi Pengembangan Sistem — April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029200"/>
            <a:ext cx="1828800" cy="411480"/>
          </a:xfrm>
          <a:prstGeom prst="round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0566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Version 1.0 — Production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640080" cy="365760"/>
          </a:xfrm>
          <a:prstGeom prst="round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47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Latar Belakang &amp; Tujuan Strategis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640080" cy="365760"/>
          </a:xfrm>
          <a:prstGeom prst="round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042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Arsitektur Sistem &amp; Teknologi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743200"/>
            <a:ext cx="640080" cy="365760"/>
          </a:xfrm>
          <a:prstGeom prst="round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614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761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Modul Inti — Manajemen Data Telekomunikasi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00400"/>
            <a:ext cx="640080" cy="365760"/>
          </a:xfrm>
          <a:prstGeom prst="round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186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2186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Modul Analitik — BPS &amp; Potensi Pasar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657600"/>
            <a:ext cx="640080" cy="365760"/>
          </a:xfrm>
          <a:prstGeom prst="round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6758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Modul Pendukung — Registrasi, Tiket, FAQ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14800"/>
            <a:ext cx="640080" cy="36576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330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1330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Integrasi Sistem Eksternal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572000"/>
            <a:ext cx="640080" cy="36576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902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5902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Keamanan &amp; Kepatuhan (DevSecOps)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29200"/>
            <a:ext cx="640080" cy="36576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474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0474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Dashboard &amp; Visualisasi Data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486400"/>
            <a:ext cx="640080" cy="36576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046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5046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Capaian &amp; Progress Pengembangan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943600"/>
            <a:ext cx="640080" cy="36576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96188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9618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Roadmap &amp; Rencana Selanjutnya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LATAR BELAKANG &amp; TUJUAN STRATEGIS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Segoe UI"/>
              </a:defRPr>
            </a:pPr>
            <a:r>
              <a:t>Tantangan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 Data perizinan telekomunikasi tersebar di berbagai sistem (POSTEL, OSS, SDPPI)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 Belum ada platform terpadu untuk analisis potensi pasar telekomunikasi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 Proses verifikasi perusahaan masih manual dan memakan waktu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 Minimnya integrasi data statistik (BPS) dengan data perizinan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 Kebutuhan dashboard real-time untuk pengambilan keputusan strategis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Segoe UI"/>
              </a:defRPr>
            </a:pPr>
            <a:r>
              <a:t>Tujuan Pengembangan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 Menyediakan Single Source of Truth data telekomunikasi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 Mengintegrasikan data BPS untuk analisis potensi pasar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 Otomasi proses verifikasi &amp; registrasi perusahaan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 Dashboard analitik untuk mendukung kebijakan publik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•  Integrasi seamless dengan sistem e-Telekomunikasi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2560320" cy="11887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11A27"/>
                </a:solidFill>
                <a:latin typeface="Segoe UI"/>
              </a:defRPr>
            </a:pPr>
            <a:r>
              <a:t>8+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Jenis</a:t>
            </a:r>
            <a:br/>
            <a:r>
              <a:t>Layanan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5029200"/>
            <a:ext cx="2560320" cy="11887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5120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11A27"/>
                </a:solidFill>
                <a:latin typeface="Segoe UI"/>
              </a:defRPr>
            </a:pPr>
            <a:r>
              <a:t>34+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5623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Provinsi</a:t>
            </a:r>
            <a:br/>
            <a:r>
              <a:t>Cakupan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5029200"/>
            <a:ext cx="2560320" cy="11887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5120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11A27"/>
                </a:solidFill>
                <a:latin typeface="Segoe UI"/>
              </a:defRPr>
            </a:pPr>
            <a:r>
              <a:t>500+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623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Tabel</a:t>
            </a:r>
            <a:br/>
            <a:r>
              <a:t>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5029200"/>
            <a:ext cx="2560320" cy="11887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51206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11A27"/>
                </a:solidFill>
                <a:latin typeface="Segoe UI"/>
              </a:defRPr>
            </a:pPr>
            <a:r>
              <a:t>24/7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5623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Monitoring</a:t>
            </a:r>
            <a:br/>
            <a:r>
              <a:t>Real-time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ARSITEKTUR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56616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FRONTEND (Client Layer)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3566160" cy="29260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React 18 + TypeScript 5.8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TailwindCSS + shadcn/ui Design System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Mapbox GL untuk Visualisasi Peta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Recharts untuk Grafik &amp; Analitik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React Query untuk State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39" y="1737360"/>
            <a:ext cx="3566160" cy="502920"/>
          </a:xfrm>
          <a:prstGeom prst="round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39" y="1783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BACKEND (API Layer)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39" y="2286000"/>
            <a:ext cx="3566160" cy="29260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24231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Node.js + Express 4.19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JWT Authentication + RBAC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WebSocket Real-time Updates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RESTful API — 60+ Endpoints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Background Job Scheduler (node-cron)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8" y="1737360"/>
            <a:ext cx="356616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8" y="1783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DATABASE &amp;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8" y="2286000"/>
            <a:ext cx="3566160" cy="292608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8" y="24231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PostgreSQL — Relational Database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40+ Tables dengan Indexing Optimal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BPS API Integration (webapi.bps.go.id)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KOMINFO Tariff API Sync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e-Telekomunikasi Service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Deployment: Docker Container  |  PM2 Process Manager  |  Apache/Nginx Reverse Proxy  |  Systemd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3566160" cy="21945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Frontend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React 18.3.1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TypeScript 5.8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Vite 5.4 Build Tool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React Router v6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39" y="1737360"/>
            <a:ext cx="3566160" cy="21945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19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UI &amp;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2402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TailwindCSS 3.4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shadcn/ui (47 components)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Lucide Icons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Recharts 2.15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8" y="1737360"/>
            <a:ext cx="3566160" cy="21945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8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State &amp;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8" y="224028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TanStack React Query v5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React Hook Form + Zod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WebSocket Client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Axios HTTP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3566160" cy="21945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Express 4.19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PostgreSQL (pg 8.13)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JWT + bcrypt Auth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Multer File Upload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39" y="4114800"/>
            <a:ext cx="3566160" cy="21945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61772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Helmet CSP Headers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CORS Protection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Rate Limiting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ESLint Security Plugin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8" y="4114800"/>
            <a:ext cx="3566160" cy="21945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8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D6"/>
                </a:solidFill>
                <a:latin typeface="Segoe UI"/>
              </a:defRPr>
            </a:pPr>
            <a:r>
              <a:t>DevOps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8" y="461772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Docker + Systemd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Vitest Unit Testing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Husky Pre-commit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●  PM2 Process Mgr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PETA MODUL SISTEM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14884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965960"/>
            <a:ext cx="1463040" cy="320040"/>
          </a:xfrm>
          <a:prstGeom prst="round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984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MODUL INTI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Manajemen Data</a:t>
            </a:r>
            <a:br/>
            <a:r>
              <a:t>Telekomunikasi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828800"/>
            <a:ext cx="214884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44368" y="1965960"/>
            <a:ext cx="1463040" cy="320040"/>
          </a:xfrm>
          <a:prstGeom prst="round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984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MODUL INTI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46888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Registrasi &amp;</a:t>
            </a:r>
            <a:br/>
            <a:r>
              <a:t>Verifikasi Perusahaan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828800"/>
            <a:ext cx="214884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76088" y="1965960"/>
            <a:ext cx="1463040" cy="3200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1984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ANALITIK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46888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BPS Statistical</a:t>
            </a:r>
            <a:br/>
            <a:r>
              <a:t>Data 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828800"/>
            <a:ext cx="214884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07808" y="1965960"/>
            <a:ext cx="1463040" cy="3200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1984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ANALITIK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46888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Telecom Market</a:t>
            </a:r>
            <a:br/>
            <a:r>
              <a:t>Potential Scoring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828800"/>
            <a:ext cx="214884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39528" y="1965960"/>
            <a:ext cx="1463040" cy="3200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1984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ANALITIK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46888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Dashboard &amp;</a:t>
            </a:r>
            <a:br/>
            <a:r>
              <a:t>Visualisasi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297680"/>
            <a:ext cx="214884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2648" y="4434840"/>
            <a:ext cx="146304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44531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PENDUKUNG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93776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Support &amp;</a:t>
            </a:r>
            <a:br/>
            <a:r>
              <a:t>Ticketing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40" y="4297680"/>
            <a:ext cx="214884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44368" y="4434840"/>
            <a:ext cx="146304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8" y="44531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PENDUKUNG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93776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FAQ</a:t>
            </a:r>
            <a:br/>
            <a:r>
              <a:t>Management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4297680"/>
            <a:ext cx="214884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276088" y="4434840"/>
            <a:ext cx="1463040" cy="3200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76088" y="44531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PENDUKUNG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493776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User &amp; Permission</a:t>
            </a:r>
            <a:br/>
            <a:r>
              <a:t>Management (RBAC)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9480" y="4297680"/>
            <a:ext cx="214884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07808" y="4434840"/>
            <a:ext cx="1463040" cy="3200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07808" y="44531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INTEGRASI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93776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Integrasi Sistem</a:t>
            </a:r>
            <a:br/>
            <a:r>
              <a:t>Eksternal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4297680"/>
            <a:ext cx="214884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939528" y="4434840"/>
            <a:ext cx="1463040" cy="3200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39528" y="44531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INTEGRASI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4937760"/>
            <a:ext cx="18745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DevSecOps &amp;</a:t>
            </a:r>
            <a:br/>
            <a:r>
              <a:t>Monitoring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MODUL: MANAJEMEN DATA TELEKOMUNIKASI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Segoe UI"/>
              </a:defRPr>
            </a:pPr>
            <a:r>
              <a:t>Pengelolaan terpadu seluruh data perizinan telekomunikasi di Indonesia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651760" cy="15544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A27"/>
                </a:solidFill>
                <a:latin typeface="Segoe UI"/>
              </a:defRPr>
            </a:pPr>
            <a:r>
              <a:t>Jasa Telekomunikasi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Penyelenggaraan jasa</a:t>
            </a:r>
            <a:br/>
            <a:r>
              <a:t>telekomunikasi umum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194560"/>
            <a:ext cx="2651760" cy="15544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331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A27"/>
                </a:solidFill>
                <a:latin typeface="Segoe UI"/>
              </a:defRPr>
            </a:pPr>
            <a:r>
              <a:t>Jaringan Telekomunikasi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43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Penyelenggaraan jaringan</a:t>
            </a:r>
            <a:br/>
            <a:r>
              <a:t>telekomunikasi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94560"/>
            <a:ext cx="2651760" cy="15544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331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A27"/>
                </a:solidFill>
                <a:latin typeface="Segoe UI"/>
              </a:defRPr>
            </a:pPr>
            <a:r>
              <a:t>Telekomunikasi Khusus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743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Penyelenggaraan telekomunikasi</a:t>
            </a:r>
            <a:br/>
            <a:r>
              <a:t>khusus (Telsus)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194560"/>
            <a:ext cx="2651760" cy="15544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331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A27"/>
                </a:solidFill>
                <a:latin typeface="Segoe UI"/>
              </a:defRPr>
            </a:pPr>
            <a:r>
              <a:t>ISR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743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Izin Stasiun Radio</a:t>
            </a:r>
            <a:br/>
            <a:r>
              <a:t>untuk spektrum frekuensi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2651760" cy="15544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60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A27"/>
                </a:solidFill>
                <a:latin typeface="Segoe UI"/>
              </a:defRPr>
            </a:pPr>
            <a:r>
              <a:t>SKLO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Sertifikat Kelaikan</a:t>
            </a:r>
            <a:br/>
            <a:r>
              <a:t>Layak Operasi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4023360"/>
            <a:ext cx="2651760" cy="15544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4160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A27"/>
                </a:solidFill>
                <a:latin typeface="Segoe UI"/>
              </a:defRPr>
            </a:pPr>
            <a:r>
              <a:t>LKO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Laporan Kelaikan</a:t>
            </a:r>
            <a:br/>
            <a:r>
              <a:t>Operasi perangkat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023360"/>
            <a:ext cx="2651760" cy="15544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160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A27"/>
                </a:solidFill>
                <a:latin typeface="Segoe UI"/>
              </a:defRPr>
            </a:pPr>
            <a:r>
              <a:t>Penomoran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Pengelolaan alokasi</a:t>
            </a:r>
            <a:br/>
            <a:r>
              <a:t>nomor telekomunikasi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4023360"/>
            <a:ext cx="2651760" cy="15544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4160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A27"/>
                </a:solidFill>
                <a:latin typeface="Segoe UI"/>
              </a:defRPr>
            </a:pPr>
            <a:r>
              <a:t>Tarif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4572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Segoe UI"/>
              </a:defRPr>
            </a:pPr>
            <a:r>
              <a:t>Pengaturan tarif</a:t>
            </a:r>
            <a:br/>
            <a:r>
              <a:t>layanan telekomunikasi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96D6"/>
                </a:solidFill>
                <a:latin typeface="Segoe UI"/>
              </a:defRPr>
            </a:pPr>
            <a:r>
              <a:t>Fitur: CRUD Operations  |  Excel Import/Export  |  Advanced Search &amp; Filter  |  Location-based Filtering  |  Pagination &amp; Sorting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MODUL: REGISTRASI &amp; VERIFIKASI PERUSAHAAN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1828800"/>
            <a:ext cx="640080" cy="640080"/>
          </a:xfrm>
          <a:prstGeom prst="ellipse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REGISTRASI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2651760" cy="18288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Pelaku usaha mengisi</a:t>
            </a:r>
            <a:br/>
            <a:r>
              <a:t>data perusahaan &amp;</a:t>
            </a:r>
            <a:br/>
            <a:r>
              <a:t>mengunggah dokumen</a:t>
            </a:r>
            <a:br/>
            <a:r>
              <a:t>(NIB, NPWP, Akta, KTP)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1965960"/>
            <a:ext cx="274320" cy="365760"/>
          </a:xfrm>
          <a:prstGeom prst="rightArrow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1828800"/>
            <a:ext cx="640080" cy="640080"/>
          </a:xfrm>
          <a:prstGeom prst="ellipse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06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SUBMITTED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017520"/>
            <a:ext cx="2651760" cy="18288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1546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Sistem menerima</a:t>
            </a:r>
            <a:br/>
            <a:r>
              <a:t>pendaftaran dan</a:t>
            </a:r>
            <a:br/>
            <a:r>
              <a:t>membuat akun</a:t>
            </a:r>
            <a:br/>
            <a:r>
              <a:t>dengan status pending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26480" y="1965960"/>
            <a:ext cx="274320" cy="365760"/>
          </a:xfrm>
          <a:prstGeom prst="rightArrow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1828800"/>
            <a:ext cx="640080" cy="640080"/>
          </a:xfrm>
          <a:prstGeom prst="ellipse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06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IN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017520"/>
            <a:ext cx="2651760" cy="18288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1546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Admin memverifikasi</a:t>
            </a:r>
            <a:br/>
            <a:r>
              <a:t>kelengkapan dokumen</a:t>
            </a:r>
            <a:br/>
            <a:r>
              <a:t>dan keabsahan data</a:t>
            </a:r>
            <a:br/>
            <a:r>
              <a:t>perusahaan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52560" y="1965960"/>
            <a:ext cx="274320" cy="365760"/>
          </a:xfrm>
          <a:prstGeom prst="rightArrow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828800"/>
            <a:ext cx="640080" cy="640080"/>
          </a:xfrm>
          <a:prstGeom prst="ellipse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06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VERIFIED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3017520"/>
            <a:ext cx="2651760" cy="18288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31546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Perusahaan terverifikasi</a:t>
            </a:r>
            <a:br/>
            <a:r>
              <a:t>dan mendapat akses</a:t>
            </a:r>
            <a:br/>
            <a:r>
              <a:t>penuh ke seluruh</a:t>
            </a:r>
            <a:br/>
            <a:r>
              <a:t>fitur sistem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0640"/>
            <a:ext cx="3474720" cy="12801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Dokumen yang Dikelola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150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NIB (Nomor Induk Berusaha)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NPWP Perusahaan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Akta Pendirian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KTP Penanggung Jawab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5120640"/>
            <a:ext cx="3474720" cy="12801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5303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Fitur Verifikasi 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7150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Dashboard verifikasi terpusat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Catatan koreksi &amp; feedback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Status tracking real-time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Bulk action management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5120640"/>
            <a:ext cx="3749039" cy="128016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5303520"/>
            <a:ext cx="32003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Status Perusahaan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9" y="5715000"/>
            <a:ext cx="3200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Submitted → In Review → Verified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Needs Correction (with notes)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Rejected (with reason)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PIC Management per company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MODUL: INTEGRASI DATA BPS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Segoe UI"/>
              </a:defRPr>
            </a:pPr>
            <a:r>
              <a:t>Integrasi langsung dengan Badan Pusat Statistik (BPS) untuk analisis data makroekonomi &amp; telekomunikasi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94560"/>
            <a:ext cx="274320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2221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Konfigurasi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743200"/>
            <a:ext cx="274320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API Key Management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Rate Limit Configuration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Base URL Setting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Health Check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194560"/>
            <a:ext cx="274320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221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Manajemen Area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743200"/>
            <a:ext cx="274320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8803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Seleksi Provinsi &amp; Kabupaten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34 Provinsi Indonesia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Monitoring area terpilih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Filter data per wilayah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94560"/>
            <a:ext cx="27432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221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Variabel Statistik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743200"/>
            <a:ext cx="274320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8803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Search katalog BPS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Registrasi variabel aktif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Kategori &amp; filter variabel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Toggle status aktif/nonaktif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194560"/>
            <a:ext cx="2743200" cy="457200"/>
          </a:xfrm>
          <a:prstGeom prst="round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2221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Sinkronisasi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743200"/>
            <a:ext cx="274320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8803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Full &amp; Incremental Sync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Sync History Tracking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Background Job Scheduler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Error Handling &amp; Retry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Data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5486400"/>
            <a:ext cx="2103120" cy="5486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532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webapi.bps.go.id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423160" y="5577840"/>
            <a:ext cx="1828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606040" y="5486400"/>
            <a:ext cx="2103120" cy="548640"/>
          </a:xfrm>
          <a:prstGeom prst="round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5532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API Fetcher Service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754880" y="5577840"/>
            <a:ext cx="1828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37760" y="5486400"/>
            <a:ext cx="2103120" cy="54864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5532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 Normalizer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086600" y="5577840"/>
            <a:ext cx="1828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69480" y="5486400"/>
            <a:ext cx="2103120" cy="54864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5532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PostgreSQL Storage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418320" y="5577840"/>
            <a:ext cx="182880" cy="32004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01200" y="5486400"/>
            <a:ext cx="2103120" cy="5486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5532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Visualization Layer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MODUL: POTENSI PASAR TELEKOMUNIKASI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Segoe UI"/>
              </a:defRPr>
            </a:pPr>
            <a:r>
              <a:t>Algoritma scoring multi-dimensi untuk mengukur potensi pasar telekomunikasi per wilayah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474720" cy="25603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A27"/>
                </a:solidFill>
                <a:latin typeface="Segoe UI"/>
              </a:defRPr>
            </a:pPr>
            <a:r>
              <a:t>Market Activity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License Count per Area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Service Diversity Index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Active vs Total License Ratio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Historical Growth Trend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Weighted by service type: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   Jasa 20%, Jaringan 25%,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   ISR 15%, Telsus 15%, etc.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03120"/>
            <a:ext cx="3474720" cy="25603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Untapped Opportunity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Population Density Analysis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Infrastructure Gap Assessment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Under-served Area Detection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Growth Potential Calculation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Demographic Indicators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Economic Activity Proxies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03120"/>
            <a:ext cx="3566160" cy="25603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Segoe UI"/>
              </a:defRPr>
            </a:pPr>
            <a:r>
              <a:t>BPS Demand Score (V2)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9748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BPS Statistical Blending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GDP per Capita Integration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Internet Penetration Rate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Household ICT Expenditure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Education &amp; Urbanization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Configurable Weight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Segoe UI"/>
              </a:defRPr>
            </a:pPr>
            <a:r>
              <a:t>Output &amp; Visualisasi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94960"/>
            <a:ext cx="2651760" cy="9144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486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Tiered Ranking</a:t>
            </a:r>
            <a:br/>
            <a:r>
              <a:t>A / B / C / 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5394960"/>
            <a:ext cx="2651760" cy="9144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5486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Interactive Map</a:t>
            </a:r>
            <a:br/>
            <a:r>
              <a:t>(Mapbox GL)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394960"/>
            <a:ext cx="2651760" cy="9144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5486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Radar Chart</a:t>
            </a:r>
            <a:br/>
            <a:r>
              <a:t>Multi-dimensi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5394960"/>
            <a:ext cx="2651760" cy="9144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5486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Sortable Table</a:t>
            </a:r>
            <a:br/>
            <a:r>
              <a:t>with Scores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DASHBOARD &amp; VISUALISASI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39496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Main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4846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KPI Cards (total data per service)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Time-series trend analysis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Service distribution breakdown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Recent activity feed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BPS Data 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846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Line charts — time-series trends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Bar charts — area comparison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Multi-variable overlay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Sync history &amp;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539496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Telecom Potential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4846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Color-coded Mapbox choropleth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Click-to-detail interaction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Radar chart per area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Pie chart service breakdown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39496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Admin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09160"/>
            <a:ext cx="4846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Company verification funnel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User activity monitoring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Ticket SLA performance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API health &amp; latency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MODUL PENDUKUNG: SUPPORT &amp; FAQ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394960" cy="27432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A27"/>
                </a:solidFill>
                <a:latin typeface="Segoe UI"/>
              </a:defRPr>
            </a:pPr>
            <a:r>
              <a:t>Support &amp; Ticketing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Pembuatan tiket dari antarmuka publik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Assignment tiket ke admin yang tersedia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Real-time messaging via WebSocket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Status tracking: Open → In Progress → Resolved → Closed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Admin dashboard dengan filter &amp; search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Unread message counter real-time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SLA metrics tracking &amp; reporting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Conversation threading per tiket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27432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Segoe UI"/>
              </a:defRPr>
            </a:pPr>
            <a:r>
              <a:t>FAQ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Public FAQ viewer dengan kategori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Admin FAQ editor (CRUD)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Kategori management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Search functionality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API-backed content management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Responsive mobile-friendly layout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11155680" cy="16459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User &amp; Permission Management (RBAC)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4924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6 Role: super_admin, internal_admin, pelaku_usaha, pengolah_data, internal_group, guest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Module-level permissions (read/create/update/delete) dan field-level granularity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Admin interface untuk assignment permission    |    PermissionGuard component untuk UI protection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INTEGRASI SISTEM EKSTERNAL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39496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A27"/>
                </a:solidFill>
                <a:latin typeface="Segoe UI"/>
              </a:defRPr>
            </a:pPr>
            <a:r>
              <a:t>e-Telekomunikasi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Platform perizinan utama Komdigi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Service-to-service API key auth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Sinkronisasi data perizinan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Shared authentication bridge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Real-time data exchange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39496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BPS (webapi.bps.go.id)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Badan Pusat Statistik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Statistical data fetching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Variable catalog search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Time-series data sync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Rate-limited API calls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539496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Segoe UI"/>
              </a:defRPr>
            </a:pPr>
            <a:r>
              <a:t>KOMINFO Tarif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tariftel.komdigi.go.id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Tariff data synchronization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Periodic auto-sync (cron)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Manual sync trigger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History &amp; error tracking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394960" cy="21031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OSS / POSTEL / SDPPI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Sistem Perizinan Nasional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920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OSS: Business registration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POSTEL: Legacy licensing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SDPPI: Radio spectrum data</a:t>
            </a:r>
          </a:p>
          <a:p>
            <a:pPr>
              <a:spcAft>
                <a:spcPts val="5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Pluggable adapter pattern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KEAMANAN &amp; KEPATUHAN (DevSecOps)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39496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A27"/>
                </a:solidFill>
                <a:latin typeface="Segoe UI"/>
              </a:defRPr>
            </a:pPr>
            <a:r>
              <a:t>Authentication &amp; 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JWT Token + Refresh Rotation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bcrypt Password Hashing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RBAC 6-level Role System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Session Management (httpOnly cookie)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External Auth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9496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Network &amp; Transport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Helmet Security Headers (CSP, HSTS)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CORS Whitelist Configuration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Rate Limiting (express-rate-limit)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HTTPS/TLS Enforcement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WebSocket Secure (WSS)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39496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Segoe UI"/>
              </a:defRPr>
            </a:pPr>
            <a:r>
              <a:t>Data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Parameterized SQL Queries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Input Sanitization (XSS)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File Upload Type Validation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Sensitive Data Encryption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Audit Trail Logging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39496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Monitoring &amp;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2628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Security Metrics Dashboard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API Call Audit Logging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Login Attempt Tracking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Performance Monitoring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ESLint Security Plugin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ROLE-BASED ACCESS CONTROL (RBAC)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286000" cy="640080"/>
          </a:xfrm>
          <a:prstGeom prst="round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Super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828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Akses penuh ke seluruh sistem, konfigurasi, dan manajemen pengguna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14600"/>
            <a:ext cx="2286000" cy="640080"/>
          </a:xfrm>
          <a:prstGeom prst="roundRect">
            <a:avLst/>
          </a:prstGeom>
          <a:solidFill>
            <a:srgbClr val="B0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Internal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06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Verifikasi perusahaan, manajemen tiket, pengelolaan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40"/>
            <a:ext cx="2286000" cy="6400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Pelaku Usaha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383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Registrasi perusahaan, melihat data perizinan,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69080"/>
            <a:ext cx="228600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Pengolah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160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Import/export data, CRUD telekom data, visualisasi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46320"/>
            <a:ext cx="2286000" cy="6400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Internal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937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Akses terbatas ke data internal dan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623560"/>
            <a:ext cx="2286000" cy="640080"/>
          </a:xfrm>
          <a:prstGeom prst="round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715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715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Segoe UI"/>
              </a:defRPr>
            </a:pPr>
            <a:r>
              <a:t>Akses publik: search data, FAQ, dan registrasi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API ENDPOINTS — 60+ REST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737360"/>
            <a:ext cx="27432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Segoe UI"/>
              </a:defRPr>
            </a:pPr>
            <a:r>
              <a:t>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847088"/>
            <a:ext cx="777240" cy="25603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84708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6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/auth/register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/auth/login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/auth/refresh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/auth/logout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/auth/check-email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/auth/login-etelekomunikasi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27432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Segoe UI"/>
              </a:defRPr>
            </a:pPr>
            <a:r>
              <a:t>Telekom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847088"/>
            <a:ext cx="777240" cy="25603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4708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5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9456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/telekom-data (CRUD)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/telekom-data/:id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/telekom-data/excel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Search &amp; Filter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Pagination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37360"/>
            <a:ext cx="27432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Segoe UI"/>
              </a:defRPr>
            </a:pPr>
            <a:r>
              <a:t>BPS 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847088"/>
            <a:ext cx="777240" cy="25603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84708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12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19456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/bps/config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/bps/areas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/bps/variables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/bps/data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/bps/sync/*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/bps/catalog/search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737360"/>
            <a:ext cx="27432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Segoe UI"/>
              </a:defRPr>
            </a:pPr>
            <a:r>
              <a:t>Telecom Potential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81360" y="1847088"/>
            <a:ext cx="777240" cy="25603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184708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10 endpoints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19456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/telecom-potential/scores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/telecom-potential/v2/*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/telecom-potential/sync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GeoJSON export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Area detail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206240"/>
            <a:ext cx="27432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Segoe UI"/>
              </a:defRPr>
            </a:pPr>
            <a:r>
              <a:t>Admin Operations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03120" y="4315968"/>
            <a:ext cx="777240" cy="25603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431596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8 endpoints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66344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/admin/companies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/admin/users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/admin/permissions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/admin/verification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Bulk operations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4206240"/>
            <a:ext cx="27432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Segoe UI"/>
              </a:defRPr>
            </a:pPr>
            <a:r>
              <a:t>Support &amp; FAQ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4315968"/>
            <a:ext cx="777240" cy="25603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431596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8 endpoints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66344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/tickets (CRUD)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/tickets/:id/messages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/tickets/:id/assign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/faqs (CRUD)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Real-time WS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206240"/>
            <a:ext cx="27432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Segoe UI"/>
              </a:defRPr>
            </a:pPr>
            <a:r>
              <a:t>Integrations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80" y="4315968"/>
            <a:ext cx="777240" cy="25603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80" y="431596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5 endpoints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66344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/integrations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/integrations/:name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/integrations/sync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/kominfo-sync/*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Status &amp; History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52560" y="4206240"/>
            <a:ext cx="27432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8972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Segoe UI"/>
              </a:defRPr>
            </a:pPr>
            <a:r>
              <a:t>Services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881360" y="4315968"/>
            <a:ext cx="777240" cy="256032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81360" y="431596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8 endpoints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66344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/jasa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/jaringan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/telsus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/isr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/sklo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/lko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/penomoran</a:t>
            </a:r>
          </a:p>
          <a:p>
            <a:pPr>
              <a:spcAft>
                <a:spcPts val="300"/>
              </a:spcAft>
              <a:defRPr sz="1000">
                <a:solidFill>
                  <a:srgbClr val="CCCCCC"/>
                </a:solidFill>
                <a:latin typeface="Segoe UI"/>
              </a:defRPr>
            </a:pPr>
            <a:r>
              <a:t>/tarif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DATABASE ARCHITECTURE — 40+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737360"/>
            <a:ext cx="36576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A27"/>
                </a:solidFill>
                <a:latin typeface="Segoe UI"/>
              </a:defRPr>
            </a:pPr>
            <a:r>
              <a:t>User &amp;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profiles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user_roles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companies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company_documents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person_in_charge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pic_documents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737360"/>
            <a:ext cx="36576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  <a:latin typeface="Segoe UI"/>
              </a:defRPr>
            </a:pPr>
            <a:r>
              <a:t>Telekom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telekom_data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services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sub_services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license_services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provinces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kabupaten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737360"/>
            <a:ext cx="36576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Segoe UI"/>
              </a:defRPr>
            </a:pPr>
            <a:r>
              <a:t>BPS Statistical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945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bps_config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bps_variables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bps_monitored_areas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bps_statistical_data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bps_sync_history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bps_api_requests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206240"/>
            <a:ext cx="36576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Segoe UI"/>
              </a:defRPr>
            </a:pPr>
            <a:r>
              <a:t>Support &amp;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634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tickets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ticket_messages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ticket_sla_metrics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audit_logs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activity_logs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api_integration_logs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4206240"/>
            <a:ext cx="36576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1E63"/>
                </a:solidFill>
                <a:latin typeface="Segoe UI"/>
              </a:defRPr>
            </a:pPr>
            <a:r>
              <a:t>Permissions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6634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permissions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permission_templates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record_permissions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modules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fields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login_attempts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4206240"/>
            <a:ext cx="3657600" cy="22860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27B0"/>
                </a:solidFill>
                <a:latin typeface="Segoe UI"/>
              </a:defRPr>
            </a:pPr>
            <a:r>
              <a:t>Sync &amp; Config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6634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sync_configurations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kominfo_tarif_data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sync_status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telecom_potential_config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telecom_potential_area_scores</a:t>
            </a:r>
          </a:p>
          <a:p>
            <a:pPr>
              <a:spcAft>
                <a:spcPts val="4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▸  faq_categories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CAPAIAN &amp; PROGRESS PENGEMBANGAN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737360"/>
            <a:ext cx="2743200" cy="4572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7647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Q1 2026  — 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Segoe UI"/>
              </a:defRPr>
            </a:pPr>
            <a:r>
              <a:t>Foundation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697480"/>
            <a:ext cx="274320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✓  Core architecture setup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✓  Authentication &amp; RBAC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✓  Telekom data CRUD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✓  Database schema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274320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7647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Q2 2026  —  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697480"/>
            <a:ext cx="274320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8346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BPS API integration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KOMINFO tariff sync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Company verification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Excel import/export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37360"/>
            <a:ext cx="2743200" cy="4572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7647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Q3 2026  —  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D6"/>
                </a:solidFill>
                <a:latin typeface="Segoe UI"/>
              </a:defRPr>
            </a:pPr>
            <a:r>
              <a:t>Analytics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697480"/>
            <a:ext cx="274320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8346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Market potential scoring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Interactive map dashboard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Data visualization charts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Real-time WebSocket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737360"/>
            <a:ext cx="274320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7647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Q4 2026  —  Planned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Optimization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2697480"/>
            <a:ext cx="2743200" cy="20116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8346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Performance tuning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Advanced analytics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Mobile responsive</a:t>
            </a:r>
          </a:p>
          <a:p>
            <a:pPr>
              <a:spcAft>
                <a:spcPts val="8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▸  UAT &amp; production deploy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029200"/>
            <a:ext cx="182880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120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11A27"/>
                </a:solidFill>
                <a:latin typeface="Segoe UI"/>
              </a:defRPr>
            </a:pPr>
            <a:r>
              <a:t>22+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Pages/Views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40280" y="5029200"/>
            <a:ext cx="182880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0280" y="5120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11A27"/>
                </a:solidFill>
                <a:latin typeface="Segoe UI"/>
              </a:defRPr>
            </a:pPr>
            <a:r>
              <a:t>55+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Components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5029200"/>
            <a:ext cx="182880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5120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11A27"/>
                </a:solidFill>
                <a:latin typeface="Segoe UI"/>
              </a:defRPr>
            </a:pPr>
            <a:r>
              <a:t>60+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API Endpoints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5029200"/>
            <a:ext cx="182880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5120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11A27"/>
                </a:solidFill>
                <a:latin typeface="Segoe UI"/>
              </a:defRPr>
            </a:pPr>
            <a:r>
              <a:t>40+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DB Tables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5029200"/>
            <a:ext cx="182880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5120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11A27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Router Files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04120" y="5029200"/>
            <a:ext cx="1828800" cy="109728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20" y="5120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11A27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Segoe UI"/>
              </a:defRPr>
            </a:pPr>
            <a:r>
              <a:t>Service Types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11A27"/>
                </a:solidFill>
                <a:latin typeface="Segoe UI Light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ROADMAP &amp; RENCANA SELANJUTNYA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27432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737360"/>
            <a:ext cx="365760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7647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Short Term (Q2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331720"/>
            <a:ext cx="3657600" cy="32004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Finalisasi integrasi BPS &amp; KOMINFO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Completion company verification workflow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UAT testing 528 skenario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Performance optimization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Documentation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737360"/>
            <a:ext cx="3657600" cy="50292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647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Mid Term (Q3 2026)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331720"/>
            <a:ext cx="3657600" cy="32004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4688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Advanced analytics &amp; reporting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Mobile responsive optimization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API rate limiting enhancement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Batch processing for large datasets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Integration with OSS/POSTEL/SDPPI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737360"/>
            <a:ext cx="3657600" cy="50292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76479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Long Term (Q4 2026+)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331720"/>
            <a:ext cx="3657600" cy="32004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46888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AI-powered anomaly detection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Predictive analytics for market trends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Multi-tenant architecture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National deployment &amp; scalability</a:t>
            </a:r>
          </a:p>
          <a:p>
            <a:pPr>
              <a:spcAft>
                <a:spcPts val="1000"/>
              </a:spcAft>
              <a:defRPr sz="1300">
                <a:solidFill>
                  <a:srgbClr val="CCCCCC"/>
                </a:solidFill>
                <a:latin typeface="Segoe UI"/>
              </a:defRPr>
            </a:pPr>
            <a:r>
              <a:t>▸  Open data portal for public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Segoe UI Light"/>
              </a:defRPr>
            </a:pPr>
            <a:r>
              <a:t>KEMENTERIAN KOMUNIKASI DAN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Terima Kasih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017520"/>
            <a:ext cx="3657600" cy="36576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D700"/>
                </a:solidFill>
                <a:latin typeface="Segoe UI"/>
              </a:defRPr>
            </a:pPr>
            <a:r>
              <a:t>Telkom Insight Hub — Panel Manajemen Data Telekomunikasi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4572000" cy="18288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251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A27"/>
                </a:solidFill>
                <a:latin typeface="Segoe UI"/>
              </a:defRPr>
            </a:pPr>
            <a:r>
              <a:t>Tim Pengembangan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61772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Direktorat Jenderal Penyelenggaraan Pos dan Informatika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Kementerian Komunikasi dan Digital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Republik Indonesia</a:t>
            </a: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CCCCCC"/>
                </a:solidFill>
                <a:latin typeface="Segoe UI"/>
              </a:defRPr>
            </a:pPr>
            <a:r>
              <a:t>etelekomunikasi.komdigi.go.id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114800"/>
            <a:ext cx="4846320" cy="182880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E11A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42519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A27"/>
                </a:solidFill>
                <a:latin typeface="Segoe UI"/>
              </a:defRPr>
            </a:pPr>
            <a:r>
              <a:t>Persetujuan Presentasi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61772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Disusun oleh: _________________________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Tanggal: _________________________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Segoe U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Disetujui oleh: _________________________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Segoe UI"/>
              </a:defRPr>
            </a:pPr>
            <a:r>
              <a:t>Tanggal: _________________________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E11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